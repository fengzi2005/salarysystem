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6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工资管理系统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6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基于 MySQL + Spring Boot + Vue 的薪资管理平台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计算机与人工智能学院 · 数据库课程设计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86400"/>
            <a:ext cx="121615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答辩人：</a:t>
            </a:r>
            <a:r>
              <a:rPr lang="zh-CN"/>
              <a:t>姚梓烨</a:t>
            </a:r>
            <a:r>
              <a:t> ·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128016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1</a:t>
            </a:r>
          </a:p>
          <a:p>
            <a:pPr algn="ctr"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项目背景与需求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00400" cy="128016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2</a:t>
            </a:r>
          </a:p>
          <a:p>
            <a:pPr algn="ctr"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数据库概念模型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200400" cy="128016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3</a:t>
            </a:r>
          </a:p>
          <a:p>
            <a:pPr algn="ctr"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数据库逻辑设计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3200400" cy="128016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4</a:t>
            </a:r>
          </a:p>
          <a:p>
            <a:pPr algn="ctr"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关键技术实现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08960"/>
            <a:ext cx="3200400" cy="128016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5</a:t>
            </a:r>
          </a:p>
          <a:p>
            <a:pPr algn="ctr"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索引与性能优化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108960"/>
            <a:ext cx="3200400" cy="128016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6</a:t>
            </a:r>
          </a:p>
          <a:p>
            <a:pPr algn="ctr"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系统演示与总结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项目背景与需求分析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业务背景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企业多级组织架构：总部-&gt;一级部门-&gt;分部</a:t>
            </a: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员工岗位/职称动态管理</a:t>
            </a: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差异化工龄工资核算(新旧规则)</a:t>
            </a: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月度考勤扣款自动计算</a:t>
            </a: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多维薪资统计分析报表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核心数据需求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工资组成：12项(系统自动+手动录入)</a:t>
            </a: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工龄工资：新旧规则无缝切换</a:t>
            </a: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考勤联动：触发器自动计算扣款</a:t>
            </a: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定时计算：每月自动核算上月工资</a:t>
            </a:r>
          </a:p>
          <a:p>
            <a:pPr>
              <a:spcBef>
                <a:spcPts val="600"/>
              </a:spcBef>
              <a:defRPr sz="18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权限管控：三级角色+四级岗位级别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概念模型设计 · 15 张数据表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sys_role 角色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sys_user 用户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sys_user_role 关联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7160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department 部门(自关联)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37160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position 岗位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title 职称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301752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employee 员工(核心)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01752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attendance 考勤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01752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monthly_salary 月度工资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301752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monthly_salary_detail 明细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seniority_pay_rule 工龄规则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466344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seniority_pay_record 工龄记录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66344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salary_item_config 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66344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employee_change_log 变更日志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4663440"/>
            <a:ext cx="2103120" cy="118872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schedule_job_log 定时日志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共15张表 · 8个存储过程 · 2个视图 · 2个触发器 · 1个定时事件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数据库逻辑设计 · 核心表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department 部门表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三级树形架构 parent_id自关联</a:t>
            </a:r>
            <a:br/>
            <a:r>
              <a:t>递归查询实现部门树</a:t>
            </a:r>
            <a:br/>
            <a:r>
              <a:t>level:1总部 2一级 3分部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7472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employee 员工表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FK-&gt;部门/岗位/职称</a:t>
            </a:r>
            <a:br/>
            <a:r>
              <a:t>entry_date-&gt;工龄计算依据</a:t>
            </a:r>
            <a:br/>
            <a:r>
              <a:t>base_salary不等于position_salary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47472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monthly_salary 月度工资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12项工资组成字段</a:t>
            </a:r>
            <a:br/>
            <a:r>
              <a:t>gross=收入项之和</a:t>
            </a:r>
            <a:br/>
            <a:r>
              <a:t>deduction=扣款项之和</a:t>
            </a:r>
            <a:br/>
            <a:r>
              <a:t>net=gross-deduction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347472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attendance 考勤表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UNIQUE(emp,year,month)</a:t>
            </a:r>
            <a:br/>
            <a:r>
              <a:t>触发器自动算4项扣款</a:t>
            </a:r>
            <a:br/>
            <a:r>
              <a:t>事假100元/天|迟到50元/次</a:t>
            </a:r>
            <a:br/>
            <a:r>
              <a:t>旷工300元/天|全勤奖300元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47472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seniority_pay_rule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新旧规则并存</a:t>
            </a:r>
            <a:br/>
            <a:r>
              <a:t>同一时间唯一生效</a:t>
            </a:r>
            <a:br/>
            <a:r>
              <a:t>存储过程按生效日期自动选用</a:t>
            </a:r>
            <a:br/>
            <a:r>
              <a:t>旧:每年+300|新:第2年起+100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023360"/>
            <a:ext cx="347472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salary_item_config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12项工资项编码唯一</a:t>
            </a:r>
            <a:br/>
            <a:r>
              <a:t>is_active控制启停</a:t>
            </a:r>
            <a:br/>
            <a:r>
              <a:t>存储过程计算时动态读取</a:t>
            </a:r>
            <a:br/>
            <a:r>
              <a:t>停用项自动置零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关键技术 · 存储过程与触发器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475488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sp_calc_monthly_salary</a:t>
            </a:r>
            <a:br/>
            <a:r>
              <a:t>月度工资自动计算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游标遍历在职员工</a:t>
            </a:r>
            <a:br/>
            <a:r>
              <a:t>读取:基础工资+考勤+工龄规则</a:t>
            </a:r>
            <a:br/>
            <a:r>
              <a:t>按salary_item_config启停控制</a:t>
            </a:r>
            <a:br/>
            <a:r>
              <a:t>ON DUPLICATE KEY UPDATE幂等</a:t>
            </a:r>
            <a:br/>
            <a:r>
              <a:t>已确认(CONFIRMED)自动跳过</a:t>
            </a:r>
            <a:br/>
            <a:r>
              <a:t>一次调用处理全部员工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657600" cy="475488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触发器:考勤自动扣款(2个)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INSERT/UPDATE attendance时触发</a:t>
            </a:r>
            <a:br/>
            <a:r>
              <a:t>自动计算:</a:t>
            </a:r>
            <a:br/>
            <a:r>
              <a:t>  事假扣款=天数x100</a:t>
            </a:r>
            <a:br/>
            <a:r>
              <a:t>  迟到扣款=次数x50</a:t>
            </a:r>
            <a:br/>
            <a:r>
              <a:t>  旷工扣款=天数x300</a:t>
            </a:r>
            <a:br/>
            <a:r>
              <a:t>  全勤奖=无缺勤?300:0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371600"/>
            <a:ext cx="3200400" cy="475488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定时自动计算+其他SP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MySQL Event每月自动执行</a:t>
            </a:r>
            <a:br/>
            <a:r>
              <a:t>默认10号06:00计算上月</a:t>
            </a:r>
            <a:br/>
            <a:br/>
            <a:r>
              <a:t>报表存储过程(5个):</a:t>
            </a:r>
            <a:br/>
            <a:r>
              <a:t>  薪资结构分析</a:t>
            </a:r>
            <a:br/>
            <a:r>
              <a:t>  部门薪资统计</a:t>
            </a:r>
            <a:br/>
            <a:r>
              <a:t>  员工年度统计</a:t>
            </a:r>
            <a:br/>
            <a:r>
              <a:t>  通用查询</a:t>
            </a:r>
            <a:br/>
            <a:r>
              <a:t>  工资确认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核心设计理念:计算逻辑下沉到数据库层-&gt;保证一致性+减少网络往返+提升性能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索引设计与性能优化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UNIQUE约束索引(8个)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emp_no 工号唯一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username 登录名唯一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(emp_id,year,month) 考勤唯一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(emp_id,year,month) 工资唯一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(emp_id,year,month) 工龄唯一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role_code 角色编码唯一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item_code 工资项编码唯一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(user_id,role_id) 关联唯一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查询优化索引(18个)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department_id 按部门查员工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name 姓名搜索(高频)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status 在职/离职过滤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parent_id 部门树递归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dept_level 按层级筛选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(year,month) 按月查考勤/工资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execute_time 日志时间排序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position_id/title_id 按岗位/职称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entry_date 入职日期排序</a:t>
            </a:r>
          </a:p>
          <a:p>
            <a:pPr>
              <a:spcBef>
                <a:spcPts val="600"/>
              </a:spcBef>
              <a:defRPr sz="16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 monthly_salary_id 工资明细关联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200400" cy="18288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前端层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Vue3+Element Plus</a:t>
            </a:r>
            <a:br/>
            <a:r>
              <a:t>13个功能页面</a:t>
            </a:r>
            <a:br/>
            <a:r>
              <a:t>ECharts数据可视化</a:t>
            </a:r>
            <a:br/>
            <a:r>
              <a:t>角色自适应UI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4114800" cy="18288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后端层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Spring Boot 3.4.1</a:t>
            </a:r>
            <a:br/>
            <a:r>
              <a:t>57个Java类</a:t>
            </a:r>
            <a:br/>
            <a:r>
              <a:t>RESTful API设计</a:t>
            </a:r>
            <a:br/>
            <a:r>
              <a:t>JWT+拦截器权限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3200400" cy="18288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数据库层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MySQL 8.0</a:t>
            </a:r>
            <a:br/>
            <a:r>
              <a:t>15张表+8存储过程</a:t>
            </a:r>
            <a:br/>
            <a:r>
              <a:t>2视图+2触发器</a:t>
            </a:r>
            <a:br/>
            <a:r>
              <a:t>1个定时事件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5486400" cy="27432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数据流转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前端-&gt;Axios(Token)-&gt;Controller-&gt;Service-&gt;Mapper/存储过程-&gt;MySQL</a:t>
            </a:r>
            <a:br/>
            <a:r>
              <a:t>JWT验证-&gt;UserHolder(ThreadLocal)-&gt;权限校验-&gt;数据过滤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5486400" cy="27432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权限流程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登录-&gt;JWT签发-&gt;Redis存储(1h)-&gt;请求头Authorization</a:t>
            </a:r>
            <a:br/>
            <a:r>
              <a:t>-&gt;JwtTokenInterceptor解析-&gt;UserHolder.set()</a:t>
            </a:r>
            <a:br/>
            <a:r>
              <a:t>-&gt;路由守卫(role meta)-&gt;侧边栏过滤</a:t>
            </a:r>
            <a:br/>
            <a:r>
              <a:t>-&gt;控制器(403)+按钮(disabled)双重保护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权限管控设计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三级角色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ADMIN系统管理员-全部权限</a:t>
            </a:r>
            <a:br/>
            <a:r>
              <a:t>MANAGER管理人员-部门+员工管理</a:t>
            </a:r>
            <a:br/>
            <a:r>
              <a:t>EMPLOYEE普通员工-仅个人薪资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65760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四级岗位级别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总经理(4)&gt;副总经理(3)&gt;部门经理(2)&gt;分部经理(1)</a:t>
            </a:r>
            <a:br/>
            <a:r>
              <a:t>管理岗可管:技术岗+下级管理岗</a:t>
            </a:r>
            <a:br/>
            <a:r>
              <a:t>部门范围:自己部门及子部门</a:t>
            </a:r>
            <a:br/>
            <a:r>
              <a:t>级别不够-&gt;按钮置灰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371600"/>
            <a:ext cx="320040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实现机制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JWT Token+Redis</a:t>
            </a:r>
            <a:br/>
            <a:r>
              <a:t>路由守卫role meta</a:t>
            </a:r>
            <a:br/>
            <a:r>
              <a:t>侧边栏按角色渲染</a:t>
            </a:r>
            <a:br/>
            <a:r>
              <a:t>按钮disabled</a:t>
            </a:r>
            <a:br/>
            <a:r>
              <a:t>后端403拦截</a:t>
            </a:r>
            <a:br/>
            <a:r>
              <a:t>存储过程数据过滤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548640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部门权限示例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姚铮(分部经理,开发部门)-&gt;只能管理开发部门自己</a:t>
            </a:r>
            <a:br/>
            <a:r>
              <a:t>马云飞(部门经理,行政中心)-&gt;管理行政中心及下属</a:t>
            </a:r>
            <a:br/>
            <a:r>
              <a:t>孙七(总经理,总部)-&gt;管理全校所有部门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023360"/>
            <a:ext cx="5486400" cy="228600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员工管理示例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分部经理-&gt;仅可编辑技术岗员工</a:t>
            </a:r>
            <a:br/>
            <a:r>
              <a:t>部门经理-&gt;可编辑技术岗+分部经理</a:t>
            </a:r>
            <a:br/>
            <a:r>
              <a:t>总经理-&gt;可编辑技术岗+部门经理+分部经理</a:t>
            </a:r>
            <a:br/>
            <a:r>
              <a:t>Admin-&gt;全部可编辑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项目成果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828800"/>
          </a:xfrm>
          <a:prstGeom prst="roundRect">
            <a:avLst/>
          </a:prstGeom>
          <a:solidFill>
            <a:srgbClr val="2A2A42"/>
          </a:solidFill>
          <a:ln w="254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15</a:t>
            </a:r>
          </a:p>
          <a:p>
            <a:pPr algn="ctr">
              <a:defRPr sz="20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张数据表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1828800"/>
          </a:xfrm>
          <a:prstGeom prst="roundRect">
            <a:avLst/>
          </a:prstGeom>
          <a:solidFill>
            <a:srgbClr val="2A2A42"/>
          </a:solidFill>
          <a:ln w="254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8</a:t>
            </a:r>
          </a:p>
          <a:p>
            <a:pPr algn="ctr">
              <a:defRPr sz="20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个存储过程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2560320" cy="1828800"/>
          </a:xfrm>
          <a:prstGeom prst="roundRect">
            <a:avLst/>
          </a:prstGeom>
          <a:solidFill>
            <a:srgbClr val="2A2A42"/>
          </a:solidFill>
          <a:ln w="254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57</a:t>
            </a:r>
          </a:p>
          <a:p>
            <a:pPr algn="ctr">
              <a:defRPr sz="20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个Java类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645920"/>
            <a:ext cx="2560320" cy="1828800"/>
          </a:xfrm>
          <a:prstGeom prst="roundRect">
            <a:avLst/>
          </a:prstGeom>
          <a:solidFill>
            <a:srgbClr val="2A2A42"/>
          </a:solidFill>
          <a:ln w="254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13</a:t>
            </a:r>
          </a:p>
          <a:p>
            <a:pPr algn="ctr">
              <a:defRPr sz="20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个功能页面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2560320" cy="1828800"/>
          </a:xfrm>
          <a:prstGeom prst="roundRect">
            <a:avLst/>
          </a:prstGeom>
          <a:solidFill>
            <a:srgbClr val="2A2A42"/>
          </a:solidFill>
          <a:ln w="254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11</a:t>
            </a:r>
          </a:p>
          <a:p>
            <a:pPr algn="ctr">
              <a:defRPr sz="20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个功能模块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023360"/>
            <a:ext cx="2560320" cy="1828800"/>
          </a:xfrm>
          <a:prstGeom prst="roundRect">
            <a:avLst/>
          </a:prstGeom>
          <a:solidFill>
            <a:srgbClr val="2A2A42"/>
          </a:solidFill>
          <a:ln w="254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3级</a:t>
            </a:r>
          </a:p>
          <a:p>
            <a:pPr algn="ctr">
              <a:defRPr sz="20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角色权限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2560320" cy="1828800"/>
          </a:xfrm>
          <a:prstGeom prst="roundRect">
            <a:avLst/>
          </a:prstGeom>
          <a:solidFill>
            <a:srgbClr val="2A2A42"/>
          </a:solidFill>
          <a:ln w="254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4级</a:t>
            </a:r>
          </a:p>
          <a:p>
            <a:pPr algn="ctr">
              <a:defRPr sz="20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岗位级别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4023360"/>
            <a:ext cx="2560320" cy="1828800"/>
          </a:xfrm>
          <a:prstGeom prst="roundRect">
            <a:avLst/>
          </a:prstGeom>
          <a:solidFill>
            <a:srgbClr val="2A2A42"/>
          </a:solidFill>
          <a:ln w="254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rPr lang="en-US"/>
              <a:t>1</a:t>
            </a:r>
            <a:r>
              <a:rPr lang="en-US"/>
              <a:t>w+</a:t>
            </a:r>
          </a:p>
          <a:p>
            <a:pPr algn="ctr">
              <a:defRPr sz="20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行代码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EC8F8"/>
                </a:solidFill>
                <a:latin typeface="微软雅黑" panose="020B0503020204020204" charset="-122"/>
              </a:defRPr>
            </a:pPr>
            <a:r>
              <a:t>技术难点与个人收获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技术难点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存储过程游标+NOT FOUND处理陷阱</a:t>
            </a:r>
            <a:br/>
            <a:r>
              <a:t>(内层SELECT INTO触发外层HANDLER)</a:t>
            </a:r>
            <a:br/>
            <a:r>
              <a:t>工龄工资新旧规则无缝切换</a:t>
            </a:r>
            <a:br/>
            <a:r>
              <a:t>(按生效日期自动判断公式)</a:t>
            </a:r>
            <a:br/>
            <a:r>
              <a:t>工资项配置与计算联动</a:t>
            </a:r>
            <a:br/>
            <a:r>
              <a:t>(计算前读取12项is_active动态置零)</a:t>
            </a:r>
            <a:br/>
            <a:r>
              <a:t>已确认记录跳过逻辑</a:t>
            </a:r>
            <a:br/>
            <a:r>
              <a:t>(IF NOT EXISTS避免覆盖)</a:t>
            </a:r>
            <a:br/>
            <a:r>
              <a:t>部门树递归权限过滤</a:t>
            </a:r>
            <a:br/>
            <a:r>
              <a:t>(递归查找scope+层级判断)</a:t>
            </a:r>
            <a:br/>
            <a:r>
              <a:t>字符集utf8mb4兼容中文</a:t>
            </a:r>
            <a:br/>
            <a:r>
              <a:t>(解决Windows命令行乱码)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4754880"/>
          </a:xfrm>
          <a:prstGeom prst="roundRect">
            <a:avLst/>
          </a:prstGeom>
          <a:solidFill>
            <a:srgbClr val="2A2A42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D700"/>
                </a:solidFill>
                <a:latin typeface="微软雅黑" panose="020B0503020204020204" charset="-122"/>
              </a:defRPr>
            </a:pPr>
            <a:r>
              <a:t>个人收获</a:t>
            </a:r>
          </a:p>
          <a:p>
            <a:pPr>
              <a:spcBef>
                <a:spcPts val="800"/>
              </a:spcBef>
              <a:defRPr sz="1400">
                <a:solidFill>
                  <a:srgbClr val="C8D6E5"/>
                </a:solidFill>
                <a:latin typeface="微软雅黑" panose="020B0503020204020204" charset="-122"/>
              </a:defRPr>
            </a:pPr>
            <a:r>
              <a:t>深入理解存储过程与触发器</a:t>
            </a:r>
            <a:br/>
            <a:r>
              <a:t>掌握E-R建模方法论</a:t>
            </a:r>
            <a:br/>
            <a:r>
              <a:t>索引设计与SQL优化实践</a:t>
            </a:r>
            <a:br/>
            <a:r>
              <a:t>前后端联调与API设计</a:t>
            </a:r>
            <a:br/>
            <a:r>
              <a:t>权限系统多层级设计</a:t>
            </a:r>
            <a:br/>
            <a:r>
              <a:t>完整项目工程化流程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6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6152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rPr lang="en-US"/>
              <a:t>2798776062@</a:t>
            </a:r>
            <a:r>
              <a:rPr lang="en-US"/>
              <a:t>qq.com</a:t>
            </a:r>
            <a:endParaRPr lang="en-US"/>
          </a:p>
          <a:p>
            <a:pPr algn="ctr">
              <a:defRPr sz="28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欢迎</a:t>
            </a:r>
            <a:r>
              <a:rPr lang="zh-CN">
                <a:sym typeface="+mn-ea"/>
              </a:rPr>
              <a:t>老师建议</a:t>
            </a:r>
            <a:r>
              <a:rPr>
                <a:sym typeface="+mn-ea"/>
              </a:rPr>
              <a:t>与指正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工资管理系统 v1.0 · 数据库课程设计答辩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2991</Words>
  <Application>WPS 演示</Application>
  <PresentationFormat>On-screen Show (4:3)</PresentationFormat>
  <Paragraphs>214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当代恶臭年轻人</cp:lastModifiedBy>
  <cp:revision>4</cp:revision>
  <dcterms:created xsi:type="dcterms:W3CDTF">2013-01-27T09:14:00Z</dcterms:created>
  <dcterms:modified xsi:type="dcterms:W3CDTF">2026-07-11T15:24:10Z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A7CB669A037642C786419E9252F295B4_12</vt:lpwstr>
  </property>
  <property fmtid="{D5CDD505-2E9C-101B-9397-08002B2CF9AE}" pid="3" name="KSOProductBuildVer">
    <vt:lpwstr>2052-12.1.0.26895</vt:lpwstr>
  </property>
</Properties>
</file>